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91440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63A5C"/>
                </a:solidFill>
                <a:latin typeface="Calibri"/>
              </a:rPr>
              <a:t>SenHAT: Architecting Multispectral Super-Resolution for Sentinel-2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01168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006E96"/>
                </a:solidFill>
                <a:latin typeface="Calibri"/>
              </a:rPr>
              <a:t>Fusing Spatial Geometry with Spectral Physics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3035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Presenter: Aayush Kharbanda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63A5C"/>
                </a:solidFill>
                <a:latin typeface="Calibri"/>
              </a:rPr>
              <a:t>The Hallucination Problem in Remote Sensing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8016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2D2D2D"/>
                </a:solidFill>
                <a:latin typeface="Calibri"/>
              </a:defRPr>
            </a:pPr>
            <a:r>
              <a:t>Standard deep learning models (designed for natural images) rely on unconstrained generative priors, causing them to hallucinate geometry.</a:t>
            </a:r>
          </a:p>
          <a:p>
            <a:pPr>
              <a:spcAft>
                <a:spcPts val="1600"/>
              </a:spcAft>
              <a:defRPr sz="2100">
                <a:solidFill>
                  <a:srgbClr val="2D2D2D"/>
                </a:solidFill>
                <a:latin typeface="Calibri"/>
              </a:defRPr>
            </a:pPr>
            <a:r>
              <a:t>In satellite mapping, hallucinating a building or shifting a riverbank destroys the scientific validity of the dataset.</a:t>
            </a:r>
          </a:p>
          <a:p>
            <a:pPr>
              <a:spcAft>
                <a:spcPts val="1600"/>
              </a:spcAft>
              <a:defRPr sz="2100">
                <a:solidFill>
                  <a:srgbClr val="2D2D2D"/>
                </a:solidFill>
                <a:latin typeface="Calibri"/>
              </a:defRPr>
            </a:pPr>
            <a:r>
              <a:t>Goal: Engineer an architecture that understands macro-geography while strictly obeying multispectral physics.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63A5C"/>
                </a:solidFill>
                <a:latin typeface="Calibri"/>
              </a:rPr>
              <a:t>SenHAT Architecture Breakdown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/>
            </a:pPr>
            <a:r>
              <a:t>Fuses high-frequency 10m spatial geometry with 20m spectral data prior to deep extraction.</a:t>
            </a:r>
          </a:p>
          <a:p>
            <a:pPr>
              <a:spcAft>
                <a:spcPts val="1800"/>
              </a:spcAft>
              <a:defRPr sz="2000"/>
            </a:pPr>
            <a:r>
              <a:t>Replaces localized CNNs with an Overlapping Cross-Attention Transformer to capture global geographical context.</a:t>
            </a:r>
          </a:p>
        </p:txBody>
      </p:sp>
      <p:pic>
        <p:nvPicPr>
          <p:cNvPr id="4" name="Picture 3" descr="senhat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960120"/>
            <a:ext cx="6400800" cy="210040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63A5C"/>
                </a:solidFill>
                <a:latin typeface="Calibri"/>
              </a:rPr>
              <a:t>Constraining the Generation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8016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2D2D2D"/>
                </a:solidFill>
                <a:latin typeface="Calibri"/>
              </a:defRPr>
            </a:pPr>
            <a:r>
              <a:t>Unlike standard perceptual models, our network is mathematically penalized for violating terrestrial physics.</a:t>
            </a:r>
          </a:p>
          <a:p>
            <a:pPr>
              <a:spcAft>
                <a:spcPts val="1600"/>
              </a:spcAft>
              <a:defRPr sz="2100">
                <a:solidFill>
                  <a:srgbClr val="2D2D2D"/>
                </a:solidFill>
                <a:latin typeface="Calibri"/>
              </a:defRPr>
            </a:pPr>
            <a:r>
              <a:t>NDVI Loss ensures the biological reality of the vegetation index is preserved.</a:t>
            </a:r>
          </a:p>
          <a:p>
            <a:pPr>
              <a:spcAft>
                <a:spcPts val="1600"/>
              </a:spcAft>
              <a:defRPr sz="2100">
                <a:solidFill>
                  <a:srgbClr val="2D2D2D"/>
                </a:solidFill>
                <a:latin typeface="Calibri"/>
              </a:defRPr>
            </a:pPr>
            <a:r>
              <a:t>Spectral Correlation (SCC) Loss locks the relationships between the Red Edge and SWIR bands, preventing color distortion.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63A5C"/>
                </a:solidFill>
                <a:latin typeface="Calibri"/>
              </a:rPr>
              <a:t>Adversarial Texture Optimization (Without Hallucination)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8016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2D2D2D"/>
                </a:solidFill>
                <a:latin typeface="Calibri"/>
              </a:defRPr>
            </a:pPr>
            <a:r>
              <a:t>Traditional Mean Squared Error (MSE/L1) training inherently smooths out high-frequency spatial edges (like roads and tree lines).</a:t>
            </a:r>
          </a:p>
          <a:p>
            <a:pPr>
              <a:spcAft>
                <a:spcPts val="1600"/>
              </a:spcAft>
              <a:defRPr sz="2100">
                <a:solidFill>
                  <a:srgbClr val="2D2D2D"/>
                </a:solidFill>
                <a:latin typeface="Calibri"/>
              </a:defRPr>
            </a:pPr>
            <a:r>
              <a:t>To recover photorealistic sharpness, we utilize a secondary adversarial network to optimize perceptual textures.</a:t>
            </a:r>
          </a:p>
          <a:p>
            <a:pPr>
              <a:spcAft>
                <a:spcPts val="1600"/>
              </a:spcAft>
              <a:defRPr sz="2100">
                <a:solidFill>
                  <a:srgbClr val="2D2D2D"/>
                </a:solidFill>
                <a:latin typeface="Calibri"/>
              </a:defRPr>
            </a:pPr>
            <a:r>
              <a:t>Because this adversarial tuning is constrained by our NDVI and SCC guardrails, the model sharpens actual geometry instead of inventing fake textures.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63A5C"/>
                </a:solidFill>
                <a:latin typeface="Calibri"/>
              </a:rPr>
              <a:t>Early Spatial vs. Spectral Fidelity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05840"/>
            <a:ext cx="10972800" cy="4937760"/>
          </a:xfrm>
          <a:prstGeom prst="roundRect">
            <a:avLst/>
          </a:prstGeom>
          <a:solidFill>
            <a:srgbClr val="DCE4EE"/>
          </a:solidFill>
          <a:ln w="25400">
            <a:solidFill>
              <a:srgbClr val="8296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63A5C"/>
                </a:solidFill>
                <a:latin typeface="Calibri"/>
              </a:defRPr>
            </a:pPr>
            <a:r>
              <a:t>[Drop in Narval Training Grid PNG Here]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6035040"/>
            <a:ext cx="10972800" cy="502920"/>
          </a:xfrm>
          <a:prstGeom prst="roundRect">
            <a:avLst/>
          </a:prstGeom>
          <a:solidFill>
            <a:srgbClr val="E6ECF5"/>
          </a:solidFill>
          <a:ln>
            <a:solidFill>
              <a:srgbClr val="8296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The architecture is successfully utilizing 10m spatial conditioning to prevent spectral bleeding across agricultural boundaries. Early SSIM hitting 0.71.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63A5C"/>
                </a:solidFill>
                <a:latin typeface="Calibri"/>
              </a:rPr>
              <a:t>Timeline to Publication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8016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2D2D2D"/>
                </a:solidFill>
                <a:latin typeface="Calibri"/>
              </a:defRPr>
            </a:pPr>
            <a:r>
              <a:t>Extract optimal weights from the current fidelity run.</a:t>
            </a:r>
          </a:p>
          <a:p>
            <a:pPr>
              <a:spcAft>
                <a:spcPts val="1600"/>
              </a:spcAft>
              <a:defRPr sz="2100">
                <a:solidFill>
                  <a:srgbClr val="2D2D2D"/>
                </a:solidFill>
                <a:latin typeface="Calibri"/>
              </a:defRPr>
            </a:pPr>
            <a:r>
              <a:t>Execute the adversarial perceptual optimization phase.</a:t>
            </a:r>
          </a:p>
          <a:p>
            <a:pPr>
              <a:spcAft>
                <a:spcPts val="1600"/>
              </a:spcAft>
              <a:defRPr sz="2100">
                <a:solidFill>
                  <a:srgbClr val="2D2D2D"/>
                </a:solidFill>
                <a:latin typeface="Calibri"/>
              </a:defRPr>
            </a:pPr>
            <a:r>
              <a:t>Generate precision-recall curves and baseline comparisons for ISPRS journal submission.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